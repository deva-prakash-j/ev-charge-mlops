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question: how would you know your model had stopped working? In April 2020 the charging API kept returning HTTP 200 with flat latency while its energy error rose 43%. This project builds the controls that make that failure visible, block bad releases, and allow rollback — and measures them on real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facts frame the problem: demand collapsed, error rose 43%, and nothing in service monitoring changed. Then name who is hurt: the site energy manager (demand-limit headroom), the driver app (ready-by time), the scheduler, and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loop left to right. Data contract with 16 checks quarantines bad rows. Training uses a strictly chronological split. A promotion gate guards the MLflow production alias. FastAPI serves from Docker. A monthly Prefect flow scores drift with Evidently and exports to Prometheus/Grafana; an alert triggers the quality-gated retraining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decision is justified against a named alternative in STACK.md. Emphasise the trade-off column: the gate may block marginal improvements; the data-free repo means evaluators need a free token; monthly batches mean up to a month of detection 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Energy MAE 4.40 kWh against 7.89 for the mean and 5.38 for Ridge. The same model scored after April 2020 rises to 6.27 kWh. Dwell model: 1.66 h vs 3.07 h. The per-site slice shows site 0019, the smallest site, is under-served — a bias the aggregate hides.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Thresholds were declared before scoring (docs/drift_hypotheses.md). April 2020 PSI 0.231 crossed 0.2 with KS p = 3.5e-7. Leave-one-month-out on the reference window gave zero false alarms. Be honest: March 2020 was not flagged, and the controlled sensitivity study first alerts at a +30% shift. Grafana shows the live alert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push runs Ruff, 108 tests, the sample contract and pipeline, then registers a deliberately degraded candidate. The build fails if that candidate is promoted. The rollback drill moved production v1→v2→v1 on an isolated Compose project and restored the captured previous image digest. It tests mechanics, not model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proposal set a recovery target: post-shift MAE within 10% of 4.40 kWh, so at most 4.84. Two chronological retrains with held-out later windows reached 6.64 and 5.71 kWh. Neither met it. The pipeline detects, blocks and rolls back; it does not claim recovery it has not demonstrated. The implication is a budget for model work after a major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Lessons: monitoring is the durable asset; real feeds break contracts (siteID typed two ways on 2,081 rows, 245-hour sessions); pre-declared thresholds make a null result credible; aggregate metrics hide per-site bias. Trade-offs are deliberate and 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Translate errors into operations at the reference volume of about 78 sessions per day (19,144 sessions in 244 days). Summed absolute error is an upper bound on hedged energy; site-level errors partly cancel. ACN-Data has no tariffs, so no currency figure is invented; an operator multiplies avoided headroom by their own demand-charge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production gap and the ask. Point to the repository: README for quick start, docs/deliverables for this deck and the technical report, and the reproduction path for licensed results. Invite questions; the hidden appendix covers per-site, sensitivity, data contract, features, architecture detail and proposal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if asked about fairness or bias across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Deterministic multiplicative shifts to delivered energy, not SDV synthetic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if asked how data quality and licensing were handled.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if asked what drives predictions or how leakage was prevented.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Component-level view from docs/architecture.md.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change is recorded with its reason in the report and STACK.md.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from the local Docker Compose stack; aggregate scores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FastAPI /docs from the local Docker Compose stack. The example request returns 14.23 kWh from evcharge-sample-energy v1.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" cy="2103120"/>
          </a:xfrm>
          <a:prstGeom prst="rect">
            <a:avLst/>
          </a:prstGeom>
          <a:solidFill>
            <a:srgbClr val="8FB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0584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4200">
                <a:solidFill>
                  <a:srgbClr val="FFFFFF"/>
                </a:solidFill>
                <a:latin typeface="Calibri"/>
              </a:rPr>
              <a:t>When a model fails, every dashboard can stay 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200">
                <a:solidFill>
                  <a:srgbClr val="D6E4F0"/>
                </a:solidFill>
                <a:latin typeface="Calibri"/>
              </a:rPr>
              <a:t>A drift-aware MLOps pipeline for EV charge-session energy and dwell-time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3192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600">
                <a:solidFill>
                  <a:srgbClr val="FFFFFF"/>
                </a:solidFill>
                <a:latin typeface="Calibri"/>
              </a:rPr>
              <a:t>66,745 real charging sessions  ·  3 workplace sites  ·  2018 – 2021</a:t>
            </a:r>
          </a:p>
          <a:p>
            <a:pPr algn="l">
              <a:spcAft>
                <a:spcPts val="600"/>
              </a:spcAft>
            </a:pPr>
            <a:r>
              <a:rPr b="0" sz="1600">
                <a:solidFill>
                  <a:srgbClr val="FFFFFF"/>
                </a:solidFill>
                <a:latin typeface="Calibri"/>
              </a:rPr>
              <a:t>Validated against a real, dated regime change: the April 2020 workplace shutdown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692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b="0" sz="1300">
                <a:solidFill>
                  <a:srgbClr val="D6E4F0"/>
                </a:solidFill>
                <a:latin typeface="Calibri"/>
              </a:rPr>
              <a:t>Deva Prakash J  ·  upGrad MLOps — Bring Your Own Capstone</a:t>
            </a:r>
          </a:p>
          <a:p>
            <a:pPr algn="l">
              <a:spcAft>
                <a:spcPts val="200"/>
              </a:spcAft>
            </a:pPr>
            <a:r>
              <a:rPr b="0" sz="1300">
                <a:solidFill>
                  <a:srgbClr val="D6E4F0"/>
                </a:solidFill>
                <a:latin typeface="Calibri"/>
              </a:rPr>
              <a:t>github.com/deva-prakash-j/ev-charge-mlops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6B6B6B"/>
                </a:solidFill>
                <a:latin typeface="Calibri"/>
              </a:rPr>
              <a:t>THE STAKE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1F4E79"/>
                </a:solidFill>
                <a:latin typeface="Calibri"/>
              </a:rPr>
              <a:t>April 2020: the API answered every request. The model was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Drift-aware MLOps for EV charge-session prediction  ·  Deva Prakash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18488"/>
            <a:ext cx="64008" cy="11064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81912"/>
            <a:ext cx="3291840" cy="6629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3000">
                <a:solidFill>
                  <a:srgbClr val="C0392B"/>
                </a:solidFill>
                <a:latin typeface="Calibri"/>
              </a:rPr>
              <a:t>−86% / −97%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8217"/>
            <a:ext cx="3291840" cy="609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b="0" sz="1200">
                <a:solidFill>
                  <a:srgbClr val="262626"/>
                </a:solidFill>
                <a:latin typeface="Calibri"/>
              </a:rPr>
              <a:t>Monthly sessions at sites 0001 / 0002 vs reference median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50876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18488"/>
            <a:ext cx="64008" cy="11064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581912"/>
            <a:ext cx="3291840" cy="6629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3000">
                <a:solidFill>
                  <a:srgbClr val="C0392B"/>
                </a:solidFill>
                <a:latin typeface="Calibri"/>
              </a:rPr>
              <a:t>+43%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198217"/>
            <a:ext cx="3291840" cy="609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b="0" sz="1200">
                <a:solidFill>
                  <a:srgbClr val="262626"/>
                </a:solidFill>
                <a:latin typeface="Calibri"/>
              </a:rPr>
              <a:t>Energy error after the shift (4.40 → 6.27 kWh MAE)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50876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618488"/>
            <a:ext cx="64008" cy="1106424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5" y="1581912"/>
            <a:ext cx="3291840" cy="6629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3000">
                <a:solidFill>
                  <a:srgbClr val="6B6B6B"/>
                </a:solidFill>
                <a:latin typeface="Calibri"/>
              </a:rPr>
              <a:t>HTTP 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198217"/>
            <a:ext cx="3291840" cy="609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b="0" sz="1200">
                <a:solidFill>
                  <a:srgbClr val="262626"/>
                </a:solidFill>
                <a:latin typeface="Calibri"/>
              </a:rPr>
              <a:t>Status and latency unchanged — invisible to uptime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600">
                <a:solidFill>
                  <a:srgbClr val="1F4E79"/>
                </a:solidFill>
                <a:latin typeface="Calibri"/>
              </a:rPr>
              <a:t>Who depends on the prediction made at plug-in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1188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C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703320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1F4E79"/>
                </a:solidFill>
                <a:latin typeface="Calibri"/>
              </a:rPr>
              <a:t>Site energy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160520"/>
            <a:ext cx="23774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300">
                <a:solidFill>
                  <a:srgbClr val="262626"/>
                </a:solidFill>
                <a:latin typeface="Calibri"/>
              </a:rPr>
              <a:t>Demand-limit headroom and site load forecast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4992" y="361188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C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2152" y="3703320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1F4E79"/>
                </a:solidFill>
                <a:latin typeface="Calibri"/>
              </a:rPr>
              <a:t>Driver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2152" y="4160520"/>
            <a:ext cx="23774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300">
                <a:solidFill>
                  <a:srgbClr val="262626"/>
                </a:solidFill>
                <a:latin typeface="Calibri"/>
              </a:rPr>
              <a:t>“Ready-by” time shown to every driver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61188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C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8504" y="3703320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1F4E79"/>
                </a:solidFill>
                <a:latin typeface="Calibri"/>
              </a:rPr>
              <a:t>Smart-charging scheduler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8504" y="4160520"/>
            <a:ext cx="23774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300">
                <a:solidFill>
                  <a:srgbClr val="262626"/>
                </a:solidFill>
                <a:latin typeface="Calibri"/>
              </a:rPr>
              <a:t>Power allocation across occupied bays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97696" y="361188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C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34856" y="3703320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1F4E79"/>
                </a:solidFill>
                <a:latin typeface="Calibri"/>
              </a:rPr>
              <a:t>Data 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4856" y="4160520"/>
            <a:ext cx="23774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300">
                <a:solidFill>
                  <a:srgbClr val="262626"/>
                </a:solidFill>
                <a:latin typeface="Calibri"/>
              </a:rPr>
              <a:t>Provenance, PII audit and release approval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0352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300">
                <a:solidFill>
                  <a:srgbClr val="262626"/>
                </a:solidFill>
                <a:latin typeface="Calibri"/>
              </a:rPr>
              <a:t>Owner:</a:t>
            </a:r>
            <a:r>
              <a:rPr b="0" sz="1300">
                <a:solidFill>
                  <a:srgbClr val="262626"/>
                </a:solidFill>
                <a:latin typeface="Calibri"/>
              </a:rPr>
              <a:t> MLOps engineer — deployment, promotion, rollback, monitoring, alert response, retraining (acting: Deva Prakash J).  </a:t>
            </a:r>
            <a:r>
              <a:rPr b="1" sz="1300">
                <a:solidFill>
                  <a:srgbClr val="262626"/>
                </a:solidFill>
                <a:latin typeface="Calibri"/>
              </a:rPr>
              <a:t>Approver:</a:t>
            </a:r>
            <a:r>
              <a:rPr b="0" sz="1300">
                <a:solidFill>
                  <a:srgbClr val="262626"/>
                </a:solidFill>
                <a:latin typeface="Calibri"/>
              </a:rPr>
              <a:t> charging operations accepts or rejects retrained candidates.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6B6B6B"/>
                </a:solidFill>
                <a:latin typeface="Calibri"/>
              </a:rPr>
              <a:t>METHODOLOGY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1F4E79"/>
                </a:solidFill>
                <a:latin typeface="Calibri"/>
              </a:rPr>
              <a:t>One control loop: validate → train → gate → serve → watch → retrain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Drift-aware MLOps for EV charge-session prediction  ·  Deva Prakash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3</a:t>
            </a:r>
          </a:p>
        </p:txBody>
      </p:sp>
      <p:pic>
        <p:nvPicPr>
          <p:cNvPr id="7" name="Picture 6" descr="architecture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48419"/>
            <a:ext cx="11247120" cy="220668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4206240"/>
            <a:ext cx="2651760" cy="19202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2976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1F4E79"/>
                </a:solidFill>
                <a:latin typeface="Calibri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09160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50">
                <a:solidFill>
                  <a:srgbClr val="262626"/>
                </a:solidFill>
                <a:latin typeface="Calibri"/>
              </a:rPr>
              <a:t>ACN-Data API, 3 sites, 66,745 sessions; 16-check contract, 2 rows quarantined with reason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4206240"/>
            <a:ext cx="2651760" cy="19202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42976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1F4E79"/>
                </a:solidFill>
                <a:latin typeface="Calibri"/>
              </a:rPr>
              <a:t>Model 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4709160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50">
                <a:solidFill>
                  <a:srgbClr val="262626"/>
                </a:solidFill>
                <a:latin typeface="Calibri"/>
              </a:rPr>
              <a:t>Chronological split; MLflow tracking; staging/production aliases; CI 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4206240"/>
            <a:ext cx="2651760" cy="19202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42976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1F4E79"/>
                </a:solidFill>
                <a:latin typeface="Calibri"/>
              </a:rPr>
              <a:t>Serving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4709160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50">
                <a:solidFill>
                  <a:srgbClr val="262626"/>
                </a:solidFill>
                <a:latin typeface="Calibri"/>
              </a:rPr>
              <a:t>FastAPI in Docker Compose; /predict, /health, /metrics; JSONL prediction 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4206240"/>
            <a:ext cx="2651760" cy="19202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4856" y="42976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1F4E79"/>
                </a:solidFill>
                <a:latin typeface="Calibri"/>
              </a:rPr>
              <a:t>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4709160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50">
                <a:solidFill>
                  <a:srgbClr val="262626"/>
                </a:solidFill>
                <a:latin typeface="Calibri"/>
              </a:rPr>
              <a:t>Monthly Prefect flow; Evidently PSI/KS/JS; Pushgateway → Prometheus → Grafana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6B6B6B"/>
                </a:solidFill>
                <a:latin typeface="Calibri"/>
              </a:rPr>
              <a:t>METHODOLOGY ·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1F4E79"/>
                </a:solidFill>
                <a:latin typeface="Calibri"/>
              </a:rPr>
              <a:t>Design decisions — and what each one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Drift-aware MLOps for EV charge-session prediction  ·  Deva Prakash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4572000"/>
                <a:gridCol w="29260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Why it protects the business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Cost / trade-off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Chronological split (never random)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Honest post-shift score; random splits leak future regimes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Smaller, later validation window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One feature module for train + serve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No train/serve skew; 1,000-session parity test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API imports training code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Gate: beat mean &amp; Ridge, ≤ 10% regression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Complexity must earn its place; bad models blocked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Can block marginal gains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MLflow aliases + image-tag rollback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Known-good model restored without retraining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Needs disciplined image tagging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HistGradientBoosting (not LightGBM)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LightGBM crashed with pyarrow on Windows; native NaN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Fewer tuning knobs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Monthly batches, PSI &gt; 0.2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0 false alarms in 8 stable months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Up to one month of lag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Data-free repo + hash manifests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Respects publisher registration; provenance by SHA-256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Evaluators need a free token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6B6B6B"/>
                </a:solidFill>
                <a:latin typeface="Calibri"/>
              </a:rPr>
              <a:t>IMPLEMENTATION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1F4E79"/>
                </a:solidFill>
                <a:latin typeface="Calibri"/>
              </a:rPr>
              <a:t>The model beats naive baselines by 44% — until the regime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Drift-aware MLOps for EV charge-session prediction  ·  Deva Prakash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fig_model_m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05434"/>
            <a:ext cx="7680960" cy="29327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46304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0" y="1572768"/>
            <a:ext cx="64008" cy="92354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536192"/>
            <a:ext cx="3108960" cy="5715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2E7D32"/>
                </a:solidFill>
                <a:latin typeface="Calibri"/>
              </a:rPr>
              <a:t>4.40 kWh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057400"/>
            <a:ext cx="3108960" cy="5257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b="0" sz="1200">
                <a:solidFill>
                  <a:srgbClr val="262626"/>
                </a:solidFill>
                <a:latin typeface="Calibri"/>
              </a:rPr>
              <a:t>Energy MAE (mean 7.89, Ridge 5.38); R² 0.58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7432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852928"/>
            <a:ext cx="64008" cy="92354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2816352"/>
            <a:ext cx="3108960" cy="5715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2E7D32"/>
                </a:solidFill>
                <a:latin typeface="Calibri"/>
              </a:rPr>
              <a:t>1.66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3337560"/>
            <a:ext cx="3108960" cy="5257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b="0" sz="1200">
                <a:solidFill>
                  <a:srgbClr val="262626"/>
                </a:solidFill>
                <a:latin typeface="Calibri"/>
              </a:rPr>
              <a:t>Dwell MAE (mean 3.07, Ridge 1.98)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402336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4133088"/>
            <a:ext cx="64008" cy="92354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4096512"/>
            <a:ext cx="3108960" cy="5715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C0392B"/>
                </a:solidFill>
                <a:latin typeface="Calibri"/>
              </a:rPr>
              <a:t>6.27 kWh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4617720"/>
            <a:ext cx="3108960" cy="5257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b="0" sz="1200">
                <a:solidFill>
                  <a:srgbClr val="262626"/>
                </a:solidFill>
                <a:latin typeface="Calibri"/>
              </a:rPr>
              <a:t>Same energy model after April 2020 (+43%)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46320"/>
            <a:ext cx="7406640" cy="1325880"/>
          </a:xfrm>
          <a:prstGeom prst="roundRect">
            <a:avLst>
              <a:gd name="adj" fmla="val 8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37760"/>
            <a:ext cx="71323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400">
                <a:solidFill>
                  <a:srgbClr val="262626"/>
                </a:solidFill>
                <a:latin typeface="Calibri"/>
              </a:rPr>
              <a:t>Bias the average hides:</a:t>
            </a:r>
            <a:r>
              <a:rPr b="0" sz="1400">
                <a:solidFill>
                  <a:srgbClr val="262626"/>
                </a:solidFill>
                <a:latin typeface="Calibri"/>
              </a:rPr>
              <a:t> site 0019 validation MAE 10.3 kWh (R² −0.48) vs 4.7 and 3.0 at the larger sites. It has &lt; 2% of training rows. Treat its predictions as advisory.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349240"/>
            <a:ext cx="33832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6B6B6B"/>
                </a:solidFill>
                <a:latin typeface="Calibri"/>
              </a:rPr>
              <a:t>Licensed extract · train 48,957 · validation 4,815 · post‑shift 942 rows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6B6B6B"/>
                </a:solidFill>
                <a:latin typeface="Calibri"/>
              </a:rPr>
              <a:t>IMPLEMENTATION · MONITORING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1F4E79"/>
                </a:solidFill>
                <a:latin typeface="Calibri"/>
              </a:rPr>
              <a:t>The detector fired on the real shift — and stayed quiet for 8 stable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Drift-aware MLOps for EV charge-session prediction  ·  Deva Prakash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fig_drift_p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47800"/>
            <a:ext cx="6035040" cy="2682240"/>
          </a:xfrm>
          <a:prstGeom prst="rect">
            <a:avLst/>
          </a:prstGeom>
        </p:spPr>
      </p:pic>
      <p:pic>
        <p:nvPicPr>
          <p:cNvPr id="8" name="Picture 7" descr="screenshot_grafana_dr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377" y="1371600"/>
            <a:ext cx="4564684" cy="35661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48640" y="434340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453128"/>
            <a:ext cx="64008" cy="1197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416552"/>
            <a:ext cx="2560320" cy="7086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600">
                <a:solidFill>
                  <a:srgbClr val="C0392B"/>
                </a:solidFill>
                <a:latin typeface="Calibri"/>
              </a:rPr>
              <a:t>PSI 0.231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80406"/>
            <a:ext cx="2560320" cy="65196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b="0" sz="1200">
                <a:solidFill>
                  <a:srgbClr val="262626"/>
                </a:solidFill>
                <a:latin typeface="Calibri"/>
              </a:rPr>
              <a:t>April 2020 delivered energy &gt; 0.20 threshold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434340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4453128"/>
            <a:ext cx="64008" cy="1197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4416552"/>
            <a:ext cx="2560320" cy="7086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600">
                <a:solidFill>
                  <a:srgbClr val="2E7D32"/>
                </a:solidFill>
                <a:latin typeface="Calibri"/>
              </a:rPr>
              <a:t>0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5080406"/>
            <a:ext cx="2560320" cy="65196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b="0" sz="1200">
                <a:solidFill>
                  <a:srgbClr val="262626"/>
                </a:solidFill>
                <a:latin typeface="Calibri"/>
              </a:rPr>
              <a:t>False alarms in stable months (PSI ≤ 0.022)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074920"/>
            <a:ext cx="52120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00">
                <a:solidFill>
                  <a:srgbClr val="262626"/>
                </a:solidFill>
                <a:latin typeface="Calibri"/>
              </a:rPr>
              <a:t>•  Controlled sensitivity: first alert at </a:t>
            </a:r>
            <a:r>
              <a:rPr b="1" sz="1300">
                <a:solidFill>
                  <a:srgbClr val="262626"/>
                </a:solidFill>
                <a:latin typeface="Calibri"/>
              </a:rPr>
              <a:t>+30%</a:t>
            </a:r>
            <a:r>
              <a:rPr b="0" sz="1300">
                <a:solidFill>
                  <a:srgbClr val="262626"/>
                </a:solidFill>
                <a:latin typeface="Calibri"/>
              </a:rPr>
              <a:t> injected energy shift</a:t>
            </a:r>
          </a:p>
          <a:p>
            <a:pPr algn="l">
              <a:spcAft>
                <a:spcPts val="400"/>
              </a:spcAft>
            </a:pPr>
            <a:r>
              <a:rPr b="0" sz="1300">
                <a:solidFill>
                  <a:srgbClr val="262626"/>
                </a:solidFill>
                <a:latin typeface="Calibri"/>
              </a:rPr>
              <a:t>•  March 2020 </a:t>
            </a:r>
            <a:r>
              <a:rPr b="1" sz="1300">
                <a:solidFill>
                  <a:srgbClr val="262626"/>
                </a:solidFill>
                <a:latin typeface="Calibri"/>
              </a:rPr>
              <a:t>not</a:t>
            </a:r>
            <a:r>
              <a:rPr b="0" sz="1300">
                <a:solidFill>
                  <a:srgbClr val="262626"/>
                </a:solidFill>
                <a:latin typeface="Calibri"/>
              </a:rPr>
              <a:t> flagged — monthly batches lag by up to a month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6B6B6B"/>
                </a:solidFill>
                <a:latin typeface="Calibri"/>
              </a:rPr>
              <a:t>IMPLEMENTATION · RELEASE SAFETY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1F4E79"/>
                </a:solidFill>
                <a:latin typeface="Calibri"/>
              </a:rPr>
              <a:t>Bad models cannot reach the scheduler; good ones can be restored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Drift-aware MLOps for EV charge-session prediction  ·  Deva Prakash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600">
                <a:solidFill>
                  <a:srgbClr val="1F4E79"/>
                </a:solidFill>
                <a:latin typeface="Calibri"/>
              </a:rPr>
              <a:t>CI promotion gate (GitHub Actions, every push)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54864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Candidate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Validation MAE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Production (sample)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6.342 kWh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stays v1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Degraded candidate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13.515 kWh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262626"/>
                          </a:solidFill>
                          <a:latin typeface="Calibri"/>
                        </a:rPr>
                        <a:t>BLOCKED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108960"/>
            <a:ext cx="5486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b="0" sz="1300">
                <a:solidFill>
                  <a:srgbClr val="262626"/>
                </a:solidFill>
                <a:latin typeface="Calibri"/>
              </a:rPr>
              <a:t>•  Failed: beats mean · beats Ridge · ≤ 10% regression</a:t>
            </a:r>
          </a:p>
          <a:p>
            <a:pPr algn="l">
              <a:spcAft>
                <a:spcPts val="300"/>
              </a:spcAft>
            </a:pPr>
            <a:r>
              <a:rPr b="0" sz="1300">
                <a:solidFill>
                  <a:srgbClr val="262626"/>
                </a:solidFill>
                <a:latin typeface="Calibri"/>
              </a:rPr>
              <a:t>•  Every decision appended to promotion_decisions.jsonl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9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600">
                <a:solidFill>
                  <a:srgbClr val="1F4E79"/>
                </a:solidFill>
                <a:latin typeface="Calibri"/>
              </a:rPr>
              <a:t>Rollback drill (isolated Compose project)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48056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94560"/>
                <a:gridCol w="1463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Production alias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/health · /predict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262626"/>
                          </a:solidFill>
                          <a:latin typeface="Calibri"/>
                        </a:rPr>
                        <a:t>Known-good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262626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262626"/>
                          </a:solidFill>
                          <a:latin typeface="Calibri"/>
                        </a:rPr>
                        <a:t>ok · 10.49 kWh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262626"/>
                          </a:solidFill>
                          <a:latin typeface="Calibri"/>
                        </a:rPr>
                        <a:t>Candidate promoted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262626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262626"/>
                          </a:solidFill>
                          <a:latin typeface="Calibri"/>
                        </a:rPr>
                        <a:t>ok · served v2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262626"/>
                          </a:solidFill>
                          <a:latin typeface="Calibri"/>
                        </a:rPr>
                        <a:t>Rolled back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262626"/>
                          </a:solidFill>
                          <a:latin typeface="Calibri"/>
                        </a:rPr>
                        <a:t>v1 + previous image digest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262626"/>
                          </a:solidFill>
                          <a:latin typeface="Calibri"/>
                        </a:rPr>
                        <a:t>ok · 10.49 kWh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screenshot_mlflow_regi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35480"/>
            <a:ext cx="5486400" cy="381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6B6B6B"/>
                </a:solidFill>
                <a:latin typeface="Calibri"/>
              </a:rPr>
              <a:t>LESSONS · HONEST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1F4E79"/>
                </a:solidFill>
                <a:latin typeface="Calibri"/>
              </a:rPr>
              <a:t>Retraining did not recover pre-shift accuracy — and that is reported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Drift-aware MLOps for EV charge-session prediction  ·  Deva Prakash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fig_reco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93520"/>
            <a:ext cx="6400800" cy="3413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46304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0" y="1572768"/>
            <a:ext cx="64008" cy="9235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536192"/>
            <a:ext cx="4297680" cy="5715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600">
                <a:solidFill>
                  <a:srgbClr val="1F4E79"/>
                </a:solidFill>
                <a:latin typeface="Calibri"/>
              </a:rPr>
              <a:t>≤ 4.84 kWh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057400"/>
            <a:ext cx="4297680" cy="5257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b="0" sz="1200">
                <a:solidFill>
                  <a:srgbClr val="262626"/>
                </a:solidFill>
                <a:latin typeface="Calibri"/>
              </a:rPr>
              <a:t>Target: within 10% of pre-shift 4.40 kWh MAE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74320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2852928"/>
            <a:ext cx="64008" cy="92354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816352"/>
            <a:ext cx="4297680" cy="5715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600">
                <a:solidFill>
                  <a:srgbClr val="C0392B"/>
                </a:solidFill>
                <a:latin typeface="Calibri"/>
              </a:rPr>
              <a:t>6.64 kWh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337560"/>
            <a:ext cx="4297680" cy="5257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b="0" sz="1200">
                <a:solidFill>
                  <a:srgbClr val="262626"/>
                </a:solidFill>
                <a:latin typeface="Calibri"/>
              </a:rPr>
              <a:t>Trained through 2020-06, scored 2020-09..12 (869 rows)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02336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4133088"/>
            <a:ext cx="64008" cy="923544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4096512"/>
            <a:ext cx="4297680" cy="5715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600">
                <a:solidFill>
                  <a:srgbClr val="B26A00"/>
                </a:solidFill>
                <a:latin typeface="Calibri"/>
              </a:rPr>
              <a:t>5.71 kWh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617720"/>
            <a:ext cx="4297680" cy="5257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b="0" sz="1200">
                <a:solidFill>
                  <a:srgbClr val="262626"/>
                </a:solidFill>
                <a:latin typeface="Calibri"/>
              </a:rPr>
              <a:t>Trained through 2021-02, scored 2021-04..05 (2,055 rows), +29.8%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924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13248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400">
                <a:solidFill>
                  <a:srgbClr val="262626"/>
                </a:solidFill>
                <a:latin typeface="Calibri"/>
              </a:rPr>
              <a:t>Implication:</a:t>
            </a:r>
            <a:r>
              <a:rPr b="0" sz="1400">
                <a:solidFill>
                  <a:srgbClr val="262626"/>
                </a:solidFill>
                <a:latin typeface="Calibri"/>
              </a:rPr>
              <a:t> a regime change needs model work — site-aware or recency-weighted training, the deferred occupancy feature — not just a scheduled retrain on mostly old-regime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6B6B6B"/>
                </a:solidFill>
                <a:latin typeface="Calibri"/>
              </a:rPr>
              <a:t>LESSONS ·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1F4E79"/>
                </a:solidFill>
                <a:latin typeface="Calibri"/>
              </a:rPr>
              <a:t>What I learned, and what I traded 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Drift-aware MLOps for EV charge-session prediction  ·  Deva Prakash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800">
                <a:solidFill>
                  <a:srgbClr val="1F4E79"/>
                </a:solidFill>
                <a:latin typeface="Calibri"/>
              </a:rPr>
              <a:t>Lessons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600"/>
              </a:spcAft>
            </a:pPr>
            <a:r>
              <a:rPr b="0" sz="1600">
                <a:solidFill>
                  <a:srgbClr val="262626"/>
                </a:solidFill>
                <a:latin typeface="Calibri"/>
              </a:rPr>
              <a:t>•  </a:t>
            </a:r>
            <a:r>
              <a:rPr b="1" sz="1600">
                <a:solidFill>
                  <a:srgbClr val="262626"/>
                </a:solidFill>
                <a:latin typeface="Calibri"/>
              </a:rPr>
              <a:t>Monitoring outlives any single model.</a:t>
            </a:r>
            <a:r>
              <a:rPr b="0" sz="1600">
                <a:solidFill>
                  <a:srgbClr val="262626"/>
                </a:solidFill>
                <a:latin typeface="Calibri"/>
              </a:rPr>
              <a:t> Accuracy decays silently; the detector and gate protect every future version.</a:t>
            </a:r>
          </a:p>
          <a:p>
            <a:pPr algn="l">
              <a:spcAft>
                <a:spcPts val="1600"/>
              </a:spcAft>
            </a:pPr>
            <a:r>
              <a:rPr b="0" sz="1600">
                <a:solidFill>
                  <a:srgbClr val="262626"/>
                </a:solidFill>
                <a:latin typeface="Calibri"/>
              </a:rPr>
              <a:t>•  </a:t>
            </a:r>
            <a:r>
              <a:rPr b="1" sz="1600">
                <a:solidFill>
                  <a:srgbClr val="262626"/>
                </a:solidFill>
                <a:latin typeface="Calibri"/>
              </a:rPr>
              <a:t>Real feeds break contracts.</a:t>
            </a:r>
            <a:r>
              <a:rPr b="0" sz="1600">
                <a:solidFill>
                  <a:srgbClr val="262626"/>
                </a:solidFill>
                <a:latin typeface="Calibri"/>
              </a:rPr>
              <a:t> siteID typed as int and string on 2,081 rows; sessions of 245 h — quarantined with a reason, not dropped.</a:t>
            </a:r>
          </a:p>
          <a:p>
            <a:pPr algn="l">
              <a:spcAft>
                <a:spcPts val="1600"/>
              </a:spcAft>
            </a:pPr>
            <a:r>
              <a:rPr b="0" sz="1600">
                <a:solidFill>
                  <a:srgbClr val="262626"/>
                </a:solidFill>
                <a:latin typeface="Calibri"/>
              </a:rPr>
              <a:t>•  </a:t>
            </a:r>
            <a:r>
              <a:rPr b="1" sz="1600">
                <a:solidFill>
                  <a:srgbClr val="262626"/>
                </a:solidFill>
                <a:latin typeface="Calibri"/>
              </a:rPr>
              <a:t>Declare thresholds before scoring.</a:t>
            </a:r>
            <a:r>
              <a:rPr b="0" sz="1600">
                <a:solidFill>
                  <a:srgbClr val="262626"/>
                </a:solidFill>
                <a:latin typeface="Calibri"/>
              </a:rPr>
              <a:t> It is what makes the null recovery result credible.</a:t>
            </a:r>
          </a:p>
          <a:p>
            <a:pPr algn="l">
              <a:spcAft>
                <a:spcPts val="1600"/>
              </a:spcAft>
            </a:pPr>
            <a:r>
              <a:rPr b="0" sz="1600">
                <a:solidFill>
                  <a:srgbClr val="262626"/>
                </a:solidFill>
                <a:latin typeface="Calibri"/>
              </a:rPr>
              <a:t>•  </a:t>
            </a:r>
            <a:r>
              <a:rPr b="1" sz="1600">
                <a:solidFill>
                  <a:srgbClr val="262626"/>
                </a:solidFill>
                <a:latin typeface="Calibri"/>
              </a:rPr>
              <a:t>Averages hide bias.</a:t>
            </a:r>
            <a:r>
              <a:rPr b="0" sz="1600">
                <a:solidFill>
                  <a:srgbClr val="262626"/>
                </a:solidFill>
                <a:latin typeface="Calibri"/>
              </a:rPr>
              <a:t> Site 0019's error is 2.2–3.4× the larger sites'.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800">
                <a:solidFill>
                  <a:srgbClr val="1F4E79"/>
                </a:solidFill>
                <a:latin typeface="Calibri"/>
              </a:rPr>
              <a:t>Trade-offs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920240"/>
          <a:ext cx="5394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920240"/>
                <a:gridCol w="17373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Chose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Gained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Gave up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Monthly batches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Stable, cheap scores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≤ 1 month lag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PSI threshold 0.2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0 false alarms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Misses &lt; +30% shifts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Docker Compose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One-laptop reproducibility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No HA / autoscale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Defer occupancy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No unaudited leakage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A likely useful signal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Data-free repo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Licence-respecting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Token to reproduce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6B6B6B"/>
                </a:solidFill>
                <a:latin typeface="Calibri"/>
              </a:rPr>
              <a:t>CONCLUSIONS ·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1F4E79"/>
                </a:solidFill>
                <a:latin typeface="Calibri"/>
              </a:rPr>
              <a:t>What this buys a charging operator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Drift-aware MLOps for EV charge-session prediction  ·  Deva Prakash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64008" cy="124358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2423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400">
                <a:solidFill>
                  <a:srgbClr val="2E7D32"/>
                </a:solidFill>
                <a:latin typeface="Calibri"/>
              </a:rPr>
              <a:t>≈ 272 kWh/day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23820"/>
            <a:ext cx="2423160" cy="67299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b="0" sz="1200">
                <a:solidFill>
                  <a:srgbClr val="262626"/>
                </a:solidFill>
                <a:latin typeface="Calibri"/>
              </a:rPr>
              <a:t>Less forecast error to buffer vs a naive average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6304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572768"/>
            <a:ext cx="64008" cy="124358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536192"/>
            <a:ext cx="2423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400">
                <a:solidFill>
                  <a:srgbClr val="2E7D32"/>
                </a:solidFill>
                <a:latin typeface="Calibri"/>
              </a:rPr>
              <a:t>≈ 1.4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223820"/>
            <a:ext cx="2423160" cy="67299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b="0" sz="1200">
                <a:solidFill>
                  <a:srgbClr val="262626"/>
                </a:solidFill>
                <a:latin typeface="Calibri"/>
              </a:rPr>
              <a:t>Closer ready-by estimate per driver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72768"/>
            <a:ext cx="64008" cy="12435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36192"/>
            <a:ext cx="2423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400">
                <a:solidFill>
                  <a:srgbClr val="1F4E79"/>
                </a:solidFill>
                <a:latin typeface="Calibri"/>
              </a:rPr>
              <a:t>≤ 1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23820"/>
            <a:ext cx="2423160" cy="67299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b="0" sz="1200">
                <a:solidFill>
                  <a:srgbClr val="262626"/>
                </a:solidFill>
                <a:latin typeface="Calibri"/>
              </a:rPr>
              <a:t>From regime change to alert (previously undetected)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46304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572768"/>
            <a:ext cx="64008" cy="12435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536192"/>
            <a:ext cx="2423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400">
                <a:solidFill>
                  <a:srgbClr val="1F4E79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223820"/>
            <a:ext cx="2423160" cy="67299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b="0" sz="1200">
                <a:solidFill>
                  <a:srgbClr val="262626"/>
                </a:solidFill>
                <a:latin typeface="Calibri"/>
              </a:rPr>
              <a:t>Degraded models promoted — gate runs on every 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06324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100">
                <a:solidFill>
                  <a:srgbClr val="6B6B6B"/>
                </a:solidFill>
                <a:latin typeface="Calibri"/>
              </a:rPr>
              <a:t>Assumes ~78 sessions/day (reference period). Error totals are upper bounds; no monetary value is claimed because ACN-Data carries no tariff or demand-charge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03320"/>
            <a:ext cx="11155680" cy="24688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794760"/>
            <a:ext cx="10789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000">
                <a:solidFill>
                  <a:srgbClr val="1F4E79"/>
                </a:solidFill>
                <a:latin typeface="Calibri"/>
              </a:rPr>
              <a:t>Recommendation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343400"/>
            <a:ext cx="107899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b="0" sz="1900">
                <a:solidFill>
                  <a:srgbClr val="262626"/>
                </a:solidFill>
                <a:latin typeface="Calibri"/>
              </a:rPr>
              <a:t>•  </a:t>
            </a:r>
            <a:r>
              <a:rPr b="1" sz="1900">
                <a:solidFill>
                  <a:srgbClr val="262626"/>
                </a:solidFill>
                <a:latin typeface="Calibri"/>
              </a:rPr>
              <a:t>Adopt now:</a:t>
            </a:r>
            <a:r>
              <a:rPr b="0" sz="1900">
                <a:solidFill>
                  <a:srgbClr val="262626"/>
                </a:solidFill>
                <a:latin typeface="Calibri"/>
              </a:rPr>
              <a:t> drift monitoring, the CI promotion gate and alias + image rollback.</a:t>
            </a:r>
          </a:p>
          <a:p>
            <a:pPr algn="l">
              <a:spcAft>
                <a:spcPts val="1200"/>
              </a:spcAft>
            </a:pPr>
            <a:r>
              <a:rPr b="0" sz="1900">
                <a:solidFill>
                  <a:srgbClr val="262626"/>
                </a:solidFill>
                <a:latin typeface="Calibri"/>
              </a:rPr>
              <a:t>•  </a:t>
            </a:r>
            <a:r>
              <a:rPr b="1" sz="1900">
                <a:solidFill>
                  <a:srgbClr val="262626"/>
                </a:solidFill>
                <a:latin typeface="Calibri"/>
              </a:rPr>
              <a:t>Treat site 0019 as advisory</a:t>
            </a:r>
            <a:r>
              <a:rPr b="0" sz="1900">
                <a:solidFill>
                  <a:srgbClr val="262626"/>
                </a:solidFill>
                <a:latin typeface="Calibri"/>
              </a:rPr>
              <a:t> until it has more data or a site-specific model.</a:t>
            </a:r>
          </a:p>
          <a:p>
            <a:pPr algn="l">
              <a:spcAft>
                <a:spcPts val="1200"/>
              </a:spcAft>
            </a:pPr>
            <a:r>
              <a:rPr b="0" sz="1900">
                <a:solidFill>
                  <a:srgbClr val="262626"/>
                </a:solidFill>
                <a:latin typeface="Calibri"/>
              </a:rPr>
              <a:t>•  </a:t>
            </a:r>
            <a:r>
              <a:rPr b="1" sz="1900">
                <a:solidFill>
                  <a:srgbClr val="262626"/>
                </a:solidFill>
                <a:latin typeface="Calibri"/>
              </a:rPr>
              <a:t>Fund model work before relying on automatic retraining</a:t>
            </a:r>
            <a:r>
              <a:rPr b="0" sz="1900">
                <a:solidFill>
                  <a:srgbClr val="262626"/>
                </a:solidFill>
                <a:latin typeface="Calibri"/>
              </a:rPr>
              <a:t> — the measured recovery gap is 29.8%.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6B6B6B"/>
                </a:solidFill>
                <a:latin typeface="Calibri"/>
              </a:rPr>
              <a:t>CONCLUSIONS ·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1F4E79"/>
                </a:solidFill>
                <a:latin typeface="Calibri"/>
              </a:rPr>
              <a:t>From capstone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Drift-aware MLOps for EV charge-session prediction  ·  Deva Prakash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566160" cy="2743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800">
                <a:solidFill>
                  <a:srgbClr val="1F4E79"/>
                </a:solidFill>
                <a:latin typeface="Calibri"/>
              </a:rP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20040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b="0" sz="1700">
                <a:solidFill>
                  <a:srgbClr val="262626"/>
                </a:solidFill>
                <a:latin typeface="Calibri"/>
              </a:rPr>
              <a:t>•  MLflow on a database + object store</a:t>
            </a:r>
          </a:p>
          <a:p>
            <a:pPr algn="l">
              <a:spcAft>
                <a:spcPts val="1200"/>
              </a:spcAft>
            </a:pPr>
            <a:r>
              <a:rPr b="0" sz="1700">
                <a:solidFill>
                  <a:srgbClr val="262626"/>
                </a:solidFill>
                <a:latin typeface="Calibri"/>
              </a:rPr>
              <a:t>•  Images by digest in a registry</a:t>
            </a:r>
          </a:p>
          <a:p>
            <a:pPr algn="l">
              <a:spcAft>
                <a:spcPts val="1200"/>
              </a:spcAft>
            </a:pPr>
            <a:r>
              <a:rPr b="0" sz="1700">
                <a:solidFill>
                  <a:srgbClr val="262626"/>
                </a:solidFill>
                <a:latin typeface="Calibri"/>
              </a:rPr>
              <a:t>•  TLS, auth, secrets vault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08760"/>
            <a:ext cx="3566160" cy="2743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60020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800">
                <a:solidFill>
                  <a:srgbClr val="1F4E79"/>
                </a:solidFill>
                <a:latin typeface="Calibri"/>
              </a:rPr>
              <a:t>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148840"/>
            <a:ext cx="320040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b="0" sz="1700">
                <a:solidFill>
                  <a:srgbClr val="262626"/>
                </a:solidFill>
                <a:latin typeface="Calibri"/>
              </a:rPr>
              <a:t>•  Alertmanager → staffed on-call rota</a:t>
            </a:r>
          </a:p>
          <a:p>
            <a:pPr algn="l">
              <a:spcAft>
                <a:spcPts val="1200"/>
              </a:spcAft>
            </a:pPr>
            <a:r>
              <a:rPr b="0" sz="1700">
                <a:solidFill>
                  <a:srgbClr val="262626"/>
                </a:solidFill>
                <a:latin typeface="Calibri"/>
              </a:rPr>
              <a:t>•  Named charging-ops approver</a:t>
            </a:r>
          </a:p>
          <a:p>
            <a:pPr algn="l">
              <a:spcAft>
                <a:spcPts val="1200"/>
              </a:spcAft>
            </a:pPr>
            <a:r>
              <a:rPr b="0" sz="1700">
                <a:solidFill>
                  <a:srgbClr val="262626"/>
                </a:solidFill>
                <a:latin typeface="Calibri"/>
              </a:rPr>
              <a:t>•  Latency SLO and load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508760"/>
            <a:ext cx="3566160" cy="2743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60020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800">
                <a:solidFill>
                  <a:srgbClr val="1F4E79"/>
                </a:solidFill>
                <a:latin typeface="Calibri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148840"/>
            <a:ext cx="320040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b="0" sz="1700">
                <a:solidFill>
                  <a:srgbClr val="262626"/>
                </a:solidFill>
                <a:latin typeface="Calibri"/>
              </a:rPr>
              <a:t>•  Site-aware / recency-weighted training</a:t>
            </a:r>
          </a:p>
          <a:p>
            <a:pPr algn="l">
              <a:spcAft>
                <a:spcPts val="1200"/>
              </a:spcAft>
            </a:pPr>
            <a:r>
              <a:rPr b="0" sz="1700">
                <a:solidFill>
                  <a:srgbClr val="262626"/>
                </a:solidFill>
                <a:latin typeface="Calibri"/>
              </a:rPr>
              <a:t>•  Audited rolling-occupancy feature</a:t>
            </a:r>
          </a:p>
          <a:p>
            <a:pPr algn="l">
              <a:spcAft>
                <a:spcPts val="1200"/>
              </a:spcAft>
            </a:pPr>
            <a:r>
              <a:rPr b="0" sz="1700">
                <a:solidFill>
                  <a:srgbClr val="262626"/>
                </a:solidFill>
                <a:latin typeface="Calibri"/>
              </a:rPr>
              <a:t>•  Prediction intervals for headroom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11155680" cy="16002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66344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600">
                <a:solidFill>
                  <a:srgbClr val="FFFFFF"/>
                </a:solidFill>
                <a:latin typeface="Calibri"/>
              </a:rPr>
              <a:t>Thank you — questions?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b="0" sz="1300">
                <a:solidFill>
                  <a:srgbClr val="D6E4F0"/>
                </a:solidFill>
                <a:latin typeface="Calibri"/>
              </a:rPr>
              <a:t>Repository: github.com/deva-prakash-j/ev-charge-mlops  ·  Report: docs/deliverables/</a:t>
            </a:r>
          </a:p>
          <a:p>
            <a:pPr algn="l">
              <a:spcAft>
                <a:spcPts val="200"/>
              </a:spcAft>
            </a:pPr>
            <a:r>
              <a:rPr b="0" sz="1300">
                <a:solidFill>
                  <a:srgbClr val="D6E4F0"/>
                </a:solidFill>
                <a:latin typeface="Calibri"/>
              </a:rPr>
              <a:t>Credential-free demo: python -m evcharge.pipeline --source sample  ·  docker compose up --build -d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6B6B6B"/>
                </a:solidFill>
                <a:latin typeface="Calibri"/>
              </a:rPr>
              <a:t>APPENDIX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1F4E79"/>
                </a:solidFill>
                <a:latin typeface="Calibri"/>
              </a:rPr>
              <a:t>Per-site error: where the model is weakest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Drift-aware MLOps for EV charge-session prediction  ·  Deva Prakash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Appendix · 12</a:t>
            </a:r>
          </a:p>
        </p:txBody>
      </p:sp>
      <p:pic>
        <p:nvPicPr>
          <p:cNvPr id="7" name="Picture 6" descr="fig_site_m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44752"/>
            <a:ext cx="6583680" cy="351129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23760" y="1645920"/>
          <a:ext cx="4572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46304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Site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Validation MAE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Post-shift MAE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0001 Caltech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4.73 (n 2,930)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5.80 (n 813)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0002 JPL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3.04 (n 1,666)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6.33 (n 77)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0019 office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10.32 (n 219)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13.62 (n 52)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23760" y="3474720"/>
            <a:ext cx="4572000" cy="2286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300">
                <a:solidFill>
                  <a:srgbClr val="262626"/>
                </a:solidFill>
                <a:latin typeface="Calibri"/>
              </a:rPr>
              <a:t>•  Site 0019: &lt; 2% of training rows; R² −0.48 on validation</a:t>
            </a:r>
          </a:p>
          <a:p>
            <a:pPr algn="l">
              <a:spcAft>
                <a:spcPts val="600"/>
              </a:spcAft>
            </a:pPr>
            <a:r>
              <a:rPr b="0" sz="1300">
                <a:solidFill>
                  <a:srgbClr val="262626"/>
                </a:solidFill>
                <a:latin typeface="Calibri"/>
              </a:rPr>
              <a:t>•  Only 45 reference-period sessions there carry a positive energy request</a:t>
            </a:r>
          </a:p>
          <a:p>
            <a:pPr algn="l">
              <a:spcAft>
                <a:spcPts val="600"/>
              </a:spcAft>
            </a:pPr>
            <a:r>
              <a:rPr b="0" sz="1300">
                <a:solidFill>
                  <a:srgbClr val="262626"/>
                </a:solidFill>
                <a:latin typeface="Calibri"/>
              </a:rPr>
              <a:t>•  Per-site slices are logged to MLflow on every run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6B6B6B"/>
                </a:solidFill>
                <a:latin typeface="Calibri"/>
              </a:rPr>
              <a:t>APPENDIX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1F4E79"/>
                </a:solidFill>
                <a:latin typeface="Calibri"/>
              </a:rPr>
              <a:t>Detector sensitivity: controlled injected shifts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Drift-aware MLOps for EV charge-session prediction  ·  Deva Prakash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Appendix · 13</a:t>
            </a:r>
          </a:p>
        </p:txBody>
      </p:sp>
      <p:pic>
        <p:nvPicPr>
          <p:cNvPr id="7" name="Picture 6" descr="fig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3803"/>
            <a:ext cx="6400800" cy="393895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23760" y="1554480"/>
          <a:ext cx="42062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Injected shift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PSI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Alert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+10%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0.037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+20%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0.112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+30%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0.209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+50%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0.310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+100%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0.789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23760" y="4480560"/>
            <a:ext cx="44805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6B6B6B"/>
                </a:solidFill>
                <a:latin typeface="Calibri"/>
              </a:rPr>
              <a:t>H2 (request p90) mixed: site 0002 +57.5%, site 0001 −0.4%. H3 (declared vs delivered gap) supported: median 6.35 → 10.12 kWh, PSI 0.261.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6B6B6B"/>
                </a:solidFill>
                <a:latin typeface="Calibri"/>
              </a:rPr>
              <a:t>APPENDIX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1F4E79"/>
                </a:solidFill>
                <a:latin typeface="Calibri"/>
              </a:rPr>
              <a:t>Data contract, privacy and licensing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Drift-aware MLOps for EV charge-session prediction  ·  Deva Prakash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Appendix ·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155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377440"/>
                <a:gridCol w="42062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Defect in the real feed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Handling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siteID as int 2 and string "0002"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2,081 rows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Coerced; blocking expectation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clusterID mixed int/string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Crashed Parquet write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Coerced; blocking expectation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Sessions of 245 h and 214 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2 rows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Quarantined with reason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Timestamp order, namespaces, plausibility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16 checks total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262626"/>
                          </a:solidFill>
                          <a:latin typeface="Calibri"/>
                        </a:rPr>
                        <a:t>Site-specific domains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023360"/>
            <a:ext cx="1115568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b="0" sz="1400">
                <a:solidFill>
                  <a:srgbClr val="262626"/>
                </a:solidFill>
                <a:latin typeface="Calibri"/>
              </a:rPr>
              <a:t>•  PII audit: no direct PII; userID is a pseudonymous publisher ID. Prediction log stores encoded features only.</a:t>
            </a:r>
          </a:p>
          <a:p>
            <a:pPr algn="l">
              <a:spcAft>
                <a:spcPts val="800"/>
              </a:spcAft>
            </a:pPr>
            <a:r>
              <a:rPr b="0" sz="1400">
                <a:solidFill>
                  <a:srgbClr val="262626"/>
                </a:solidFill>
                <a:latin typeface="Calibri"/>
              </a:rPr>
              <a:t>•  ACN-Data: educational/research use, citation required (Lee, Li, Low — e-Energy '19). Records never committed; SHA-256 manifests prove provenance.</a:t>
            </a:r>
          </a:p>
          <a:p>
            <a:pPr algn="l">
              <a:spcAft>
                <a:spcPts val="800"/>
              </a:spcAft>
            </a:pPr>
            <a:r>
              <a:rPr b="0" sz="1400">
                <a:solidFill>
                  <a:srgbClr val="262626"/>
                </a:solidFill>
                <a:latin typeface="Calibri"/>
              </a:rPr>
              <a:t>•  History audit before submission: identifiers from one real session used as test inputs were replaced and disclosed in DATA_LICENCE.md.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6B6B6B"/>
                </a:solidFill>
                <a:latin typeface="Calibri"/>
              </a:rPr>
              <a:t>APPENDIX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1F4E79"/>
                </a:solidFill>
                <a:latin typeface="Calibri"/>
              </a:rPr>
              <a:t>Features and leakage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Drift-aware MLOps for EV charge-session prediction  ·  Deva Prakash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Appendix · 15</a:t>
            </a:r>
          </a:p>
        </p:txBody>
      </p:sp>
      <p:pic>
        <p:nvPicPr>
          <p:cNvPr id="7" name="Picture 6" descr="fig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26344"/>
            <a:ext cx="6035040" cy="37138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1554480"/>
            <a:ext cx="502920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b="0" sz="1300">
                <a:solidFill>
                  <a:srgbClr val="262626"/>
                </a:solidFill>
                <a:latin typeface="Calibri"/>
              </a:rPr>
              <a:t>•  Only plug-in-time information: earliest userInputs entry; disconnect/done times and targets rejected by feature builder and API</a:t>
            </a:r>
          </a:p>
          <a:p>
            <a:pPr algn="l">
              <a:spcAft>
                <a:spcPts val="800"/>
              </a:spcAft>
            </a:pPr>
            <a:r>
              <a:rPr b="0" sz="1300">
                <a:solidFill>
                  <a:srgbClr val="262626"/>
                </a:solidFill>
                <a:latin typeface="Calibri"/>
              </a:rPr>
              <a:t>•  Declared intent dominates: kWhRequested, milesRequested, declared duration</a:t>
            </a:r>
          </a:p>
          <a:p>
            <a:pPr algn="l">
              <a:spcAft>
                <a:spcPts val="800"/>
              </a:spcAft>
            </a:pPr>
            <a:r>
              <a:rPr b="0" sz="1300">
                <a:solidFill>
                  <a:srgbClr val="262626"/>
                </a:solidFill>
                <a:latin typeface="Calibri"/>
              </a:rPr>
              <a:t>•  Missing requests (~27% of sessions) stay NaN; HGB handles them natively</a:t>
            </a:r>
          </a:p>
          <a:p>
            <a:pPr algn="l">
              <a:spcAft>
                <a:spcPts val="800"/>
              </a:spcAft>
            </a:pPr>
            <a:r>
              <a:rPr b="0" sz="1300">
                <a:solidFill>
                  <a:srgbClr val="262626"/>
                </a:solidFill>
                <a:latin typeface="Calibri"/>
              </a:rPr>
              <a:t>•  Station/cluster vocabularies fitted on training data only; unseen → explicit unknown code</a:t>
            </a:r>
          </a:p>
          <a:p>
            <a:pPr algn="l">
              <a:spcAft>
                <a:spcPts val="800"/>
              </a:spcAft>
            </a:pPr>
            <a:r>
              <a:rPr b="0" sz="1300">
                <a:solidFill>
                  <a:srgbClr val="262626"/>
                </a:solidFill>
                <a:latin typeface="Calibri"/>
              </a:rPr>
              <a:t>•  Rolling occupancy deferred until a point-in-time join passes a parity and leakage audit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6B6B6B"/>
                </a:solidFill>
                <a:latin typeface="Calibri"/>
              </a:rPr>
              <a:t>APPENDIX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1F4E79"/>
                </a:solidFill>
                <a:latin typeface="Calibri"/>
              </a:rPr>
              <a:t>Detailed V2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Drift-aware MLOps for EV charge-session prediction  ·  Deva Prakash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Appendix · 16</a:t>
            </a:r>
          </a:p>
        </p:txBody>
      </p:sp>
      <p:pic>
        <p:nvPicPr>
          <p:cNvPr id="7" name="Picture 6" descr="architecture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957" y="1280160"/>
            <a:ext cx="401360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6B6B6B"/>
                </a:solidFill>
                <a:latin typeface="Calibri"/>
              </a:rPr>
              <a:t>APPENDIX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1F4E79"/>
                </a:solidFill>
                <a:latin typeface="Calibri"/>
              </a:rPr>
              <a:t>Changes from the accepted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Drift-aware MLOps for EV charge-session prediction  ·  Deva Prakash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Appendix ·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1556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566160"/>
                <a:gridCol w="4663440"/>
              </a:tblGrid>
              <a:tr h="548639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Proposal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Delivered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Reason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HistGradientBoosting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Windows OpenMP crash when pyarrow loads first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Prefect 2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Prefect 3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Current supported major version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SDV drift scenarios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Deterministic multiplicative shifts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Exact, reproducible magnitudes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Rolling occupancy feature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Deferred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Point-in-time join not yet audited</a:t>
                      </a:r>
                    </a:p>
                  </a:txBody>
                  <a:tcPr marL="54864" marR="54864" marT="27432" marB="27432">
                    <a:solidFill>
                      <a:srgbClr val="EAF1F8"/>
                    </a:solidFill>
                  </a:tcPr>
                </a:tc>
              </a:tr>
              <a:tr h="548644"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Data snapshot to upGrad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Data-free repo + manifests + token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262626"/>
                          </a:solidFill>
                          <a:latin typeface="Calibri"/>
                        </a:rPr>
                        <a:t>Repository-only submission; respects registration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6B6B6B"/>
                </a:solidFill>
                <a:latin typeface="Calibri"/>
              </a:rPr>
              <a:t>APPENDIX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1F4E79"/>
                </a:solidFill>
                <a:latin typeface="Calibri"/>
              </a:rPr>
              <a:t>Live alerting: Prometheus firing on the April 2020 batch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Drift-aware MLOps for EV charge-session prediction  ·  Deva Prakash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Appendix · 18</a:t>
            </a:r>
          </a:p>
        </p:txBody>
      </p:sp>
      <p:pic>
        <p:nvPicPr>
          <p:cNvPr id="7" name="Picture 6" descr="screenshot_prometheus_ale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57" y="1371600"/>
            <a:ext cx="10935604" cy="44805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6B6B6B"/>
                </a:solidFill>
                <a:latin typeface="Calibri"/>
              </a:rPr>
              <a:t>EVChargeDeliveredEnergyDrift firing for batch 2020-04 with PSI 0.2311; EVChargePredictionAPIUnavailable inactive.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6B6B6B"/>
                </a:solidFill>
                <a:latin typeface="Calibri"/>
              </a:rPr>
              <a:t>APPENDIX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2800">
                <a:solidFill>
                  <a:srgbClr val="1F4E79"/>
                </a:solidFill>
                <a:latin typeface="Calibri"/>
              </a:rPr>
              <a:t>Served API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Drift-aware MLOps for EV charge-session prediction  ·  Deva Prakash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b="0" sz="1000">
                <a:solidFill>
                  <a:srgbClr val="6B6B6B"/>
                </a:solidFill>
                <a:latin typeface="Calibri"/>
              </a:rPr>
              <a:t>Appendix · 19</a:t>
            </a:r>
          </a:p>
        </p:txBody>
      </p:sp>
      <p:pic>
        <p:nvPicPr>
          <p:cNvPr id="7" name="Picture 6" descr="screenshot_api_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199" y="1371600"/>
            <a:ext cx="8961120" cy="44805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00">
                <a:solidFill>
                  <a:srgbClr val="6B6B6B"/>
                </a:solidFill>
                <a:latin typeface="Calibri"/>
              </a:rPr>
              <a:t>/predict validates a Pydantic schema that rejects post-hoc fields; /health reports the served model version; /metrics exposes Prometheus counters.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